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b0877032-617a-91a2-7746-9d3f0b40b66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ppendix" id="{22e5469d-548e-be3a-3658-da3279d08783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34"/>
                </a:solidFill>
                <a:latin typeface="+mn-lt"/>
              </a:rPr>
              <a:t>Median MVE by years since first 10-K ($ billions)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MVE ($B)</c:v>
                </c:pt>
              </c:strCache>
            </c:strRef>
          </c:tx>
          <c:spPr>
            <a:solidFill>
              <a:srgbClr val="8A9BA3"/>
            </a:solidFill>
            <a:effectLst/>
          </c:spPr>
          <c:invertIfNegative val="0"/>
          <c:dLbls>
            <c:numFmt formatCode="$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641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641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0–5 yrs (n=93)</c:v>
                  </c:pt>
                  <c:pt idx="1">
                    <c:v>5–10 yrs (n=204)</c:v>
                  </c:pt>
                  <c:pt idx="2">
                    <c:v>10–20 yrs (n=230)</c:v>
                  </c:pt>
                  <c:pt idx="3">
                    <c:v>20–30 yrs (n=236)</c:v>
                  </c:pt>
                  <c:pt idx="4">
                    <c:v>30+ yrs (n=70)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</c:v>
                </c:pt>
                <c:pt idx="1">
                  <c:v>1.5</c:v>
                </c:pt>
                <c:pt idx="2">
                  <c:v>1.7</c:v>
                </c:pt>
                <c:pt idx="3">
                  <c:v>6.5</c:v>
                </c:pt>
                <c:pt idx="4">
                  <c:v>13.7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b="1" i="0" strike="noStrike" sz="13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9525" cap="flat">
              <a:solidFill>
                <a:srgbClr val="D5DDE0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Question: is a biotech firm's market value of equity related to how long it has been a public filer?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'why': industry expansion is the headline expectation. The accounting angle is that R&amp;D is expensed, so the value created by successful R&amp;D shows up in market value rather than book value. De-risking and survival reinforce this. We state a directional hypothesis (rho &gt; 0) before looking at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sample is 833 company-years for 201 firms. The $100M revenue floor was applied in the data file and matters a lot: without it the correlation is much weaker (Appendix A2). We deliberately did not winsorize; the appendix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each grey line is one company; the orange line is the yearly median. Right: each dot is a company-year; the orange line is a LOESS trend with a bootstrap 95% band (resampling whole companies). The median MVE by calendar year does not trend up, so the age pattern is not just a rising tide.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rho = 0.29 is a moderate positive rank correlation. Under 20 years the median MVE is flat at roughly $1.5-1.7B; after 20 years it jumps. The 95% interval for the ratio of medians comes from resampling whole firms because each firm appears in several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the question: positive, moderate, and non-linear. Limitations matter: survivorship and the revenue floor are the big ones. Next steps are about separating age from scale and from calendar-time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used here is a simplified extract of a table with over 100,000 lines. Before extraction, rows with zero total debt and rows with blank capex were removed, and the $100M revenue floor was applied. We have not measured how the first two filters affect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winsorizing was not used: it changes Pearson but not the rank-based result or the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Within-firm only means each firm's average is removed, so it measures whether a firm's MVE rises as it ages; it is positive but small, and it also reflects calendar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statistics are for the final sample. The mean MVE is far above the median because of a few very large 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Created with Claude - Reviewed by Jacob Willson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Created with Claude - Reviewed by Jacob Willson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waysOverachieve/Project1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motif 1"/>
          <p:cNvSpPr/>
          <p:nvPr/>
        </p:nvSpPr>
        <p:spPr>
          <a:xfrm>
            <a:off x="9509760" y="1097280"/>
            <a:ext cx="1463040" cy="146304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Dot motif 2"/>
          <p:cNvSpPr/>
          <p:nvPr/>
        </p:nvSpPr>
        <p:spPr>
          <a:xfrm>
            <a:off x="10881360" y="2377440"/>
            <a:ext cx="822960" cy="822960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Dot motif 3"/>
          <p:cNvSpPr/>
          <p:nvPr/>
        </p:nvSpPr>
        <p:spPr>
          <a:xfrm>
            <a:off x="9052560" y="3291840"/>
            <a:ext cx="640080" cy="640080"/>
          </a:xfrm>
          <a:prstGeom prst="ellipse">
            <a:avLst/>
          </a:prstGeom>
          <a:solidFill>
            <a:schemeClr val="accent4">
              <a:alpha val="60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5" name="Dot motif 4"/>
          <p:cNvSpPr/>
          <p:nvPr/>
        </p:nvSpPr>
        <p:spPr>
          <a:xfrm>
            <a:off x="10241280" y="4023360"/>
            <a:ext cx="1828800" cy="182880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" name="Dot motif 5"/>
          <p:cNvSpPr/>
          <p:nvPr/>
        </p:nvSpPr>
        <p:spPr>
          <a:xfrm>
            <a:off x="11430000" y="731520"/>
            <a:ext cx="457200" cy="457200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7" name="Dot motif 6"/>
          <p:cNvSpPr/>
          <p:nvPr/>
        </p:nvSpPr>
        <p:spPr>
          <a:xfrm>
            <a:off x="8503920" y="5120640"/>
            <a:ext cx="914400" cy="91440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8" name="Dot motif 7"/>
          <p:cNvSpPr/>
          <p:nvPr/>
        </p:nvSpPr>
        <p:spPr>
          <a:xfrm>
            <a:off x="10607040" y="5760720"/>
            <a:ext cx="548640" cy="548640"/>
          </a:xfrm>
          <a:prstGeom prst="ellipse">
            <a:avLst/>
          </a:prstGeom>
          <a:solidFill>
            <a:schemeClr val="accent4">
              <a:alpha val="65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9" name="Dot motif 8"/>
          <p:cNvSpPr/>
          <p:nvPr/>
        </p:nvSpPr>
        <p:spPr>
          <a:xfrm>
            <a:off x="9418320" y="2194560"/>
            <a:ext cx="411480" cy="411480"/>
          </a:xfrm>
          <a:prstGeom prst="ellipse">
            <a:avLst/>
          </a:prstGeom>
          <a:solidFill>
            <a:schemeClr val="accent2">
              <a:alpha val="9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148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 Industry - MVE vs Age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3703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Jacob Willson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October 7,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Question</a:t>
            </a:r>
            <a:endParaRPr lang="en-US" sz="3000" dirty="0"/>
          </a:p>
        </p:txBody>
      </p:sp>
      <p:sp>
        <p:nvSpPr>
          <p:cNvPr id="3" name="Research question card"/>
          <p:cNvSpPr/>
          <p:nvPr/>
        </p:nvSpPr>
        <p:spPr>
          <a:xfrm>
            <a:off x="548640" y="1371600"/>
            <a:ext cx="44805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RESEARCH QUESTION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Is the Market Value of Equity correlated with company age? If so, does it increase or decrease over time for Biotech companies?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Measurable outcomes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 (Spearman ρ) and linear (Pearson r) correlation of MVE with post-IPO age; H1: ρ &gt; 0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Effect size: change in median MVE across age bands and per decade of age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Direction: does MVE rise, stay flat or fall as firms age?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43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Counter-view: patent cliffs and maturing franchises could flatten or lower older firms' value, which is why this is an empirical question.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371600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Economic rationale: why we expect a positive correlation</a:t>
            </a:r>
            <a:endParaRPr lang="en-US" sz="1600" dirty="0"/>
          </a:p>
        </p:txBody>
      </p:sp>
      <p:sp>
        <p:nvSpPr>
          <p:cNvPr id="10" name="Rationale icon bg 1"/>
          <p:cNvSpPr/>
          <p:nvPr/>
        </p:nvSpPr>
        <p:spPr>
          <a:xfrm>
            <a:off x="544068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Rationale icon 1" descr="Industry expa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202996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217920" y="1828800"/>
            <a:ext cx="5422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Industry expansion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Biotech is an expanding industry, so firms that persist should grow in value alongside it.</a:t>
            </a:r>
            <a:endParaRPr lang="en-US" sz="1500" dirty="0"/>
          </a:p>
        </p:txBody>
      </p:sp>
      <p:sp>
        <p:nvSpPr>
          <p:cNvPr id="13" name="Rationale icon bg 2"/>
          <p:cNvSpPr/>
          <p:nvPr/>
        </p:nvSpPr>
        <p:spPr>
          <a:xfrm>
            <a:off x="5440680" y="29900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Rationale icon 2" descr="Pipeline de-ris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31455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17920" y="2944368"/>
            <a:ext cx="5422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Pipeline de-risking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Survivors turn R&amp;D into approved, revenue-generating products; resolved clinical risk lifts expected cash flows and lowers required returns.</a:t>
            </a:r>
            <a:endParaRPr lang="en-US" sz="1500" dirty="0"/>
          </a:p>
        </p:txBody>
      </p:sp>
      <p:sp>
        <p:nvSpPr>
          <p:cNvPr id="16" name="Rationale icon bg 3"/>
          <p:cNvSpPr/>
          <p:nvPr/>
        </p:nvSpPr>
        <p:spPr>
          <a:xfrm>
            <a:off x="5440680" y="41056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Rationale icon 3" descr="Accounting: R&amp;D is expens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42611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4059936"/>
            <a:ext cx="5422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Accounting: R&amp;D is expensed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 GAAP expenses most R&amp;D, so book equity understates accumulated know-how; market value capitalizes it as the pipeline matures.</a:t>
            </a:r>
            <a:endParaRPr lang="en-US" sz="1500" dirty="0"/>
          </a:p>
        </p:txBody>
      </p:sp>
      <p:sp>
        <p:nvSpPr>
          <p:cNvPr id="19" name="Rationale icon bg 4"/>
          <p:cNvSpPr/>
          <p:nvPr/>
        </p:nvSpPr>
        <p:spPr>
          <a:xfrm>
            <a:off x="5440680" y="522122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ationale icon 4" descr="Survival and 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537667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0" y="5175504"/>
            <a:ext cx="5422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Survival and scale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Failures delist; long-lived public biotechs have raised more capital and reached commercial scale.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Cleaning Choices</a:t>
            </a:r>
            <a:endParaRPr 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548640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value"/>
          <p:cNvSpPr txBox="1"/>
          <p:nvPr/>
        </p:nvSpPr>
        <p:spPr>
          <a:xfrm>
            <a:off x="731520" y="1481328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833</a:t>
            </a:r>
            <a:endParaRPr lang="en-US" sz="38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210860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company-years after cleaning</a:t>
            </a:r>
            <a:endParaRPr lang="en-US" sz="1300" dirty="0"/>
          </a:p>
        </p:txBody>
      </p:sp>
      <p:sp>
        <p:nvSpPr>
          <p:cNvPr id="6" name="Stat 2"/>
          <p:cNvSpPr/>
          <p:nvPr/>
        </p:nvSpPr>
        <p:spPr>
          <a:xfrm>
            <a:off x="3361944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 value"/>
          <p:cNvSpPr txBox="1"/>
          <p:nvPr/>
        </p:nvSpPr>
        <p:spPr>
          <a:xfrm>
            <a:off x="3544824" y="1481328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8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44824" y="210860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unique biotech firms</a:t>
            </a:r>
            <a:endParaRPr lang="en-US" sz="1300" dirty="0"/>
          </a:p>
        </p:txBody>
      </p:sp>
      <p:sp>
        <p:nvSpPr>
          <p:cNvPr id="9" name="Stat 3"/>
          <p:cNvSpPr/>
          <p:nvPr/>
        </p:nvSpPr>
        <p:spPr>
          <a:xfrm>
            <a:off x="6175248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 value"/>
          <p:cNvSpPr txBox="1"/>
          <p:nvPr/>
        </p:nvSpPr>
        <p:spPr>
          <a:xfrm>
            <a:off x="6358128" y="1481328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2010–2024</a:t>
            </a:r>
            <a:endParaRPr lang="en-US" sz="38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358128" y="210860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fiscal years covered</a:t>
            </a:r>
            <a:endParaRPr lang="en-US" sz="1300" dirty="0"/>
          </a:p>
        </p:txBody>
      </p:sp>
      <p:sp>
        <p:nvSpPr>
          <p:cNvPr id="12" name="Stat 4"/>
          <p:cNvSpPr/>
          <p:nvPr/>
        </p:nvSpPr>
        <p:spPr>
          <a:xfrm>
            <a:off x="8988552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4 value"/>
          <p:cNvSpPr txBox="1"/>
          <p:nvPr/>
        </p:nvSpPr>
        <p:spPr>
          <a:xfrm>
            <a:off x="9171432" y="1481328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$100M</a:t>
            </a:r>
            <a:endParaRPr lang="en-US" sz="38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171432" y="210860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 floor on every row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data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5394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What: annual firm-level financial ratios from the provided file ValuesFSARatios.xlsx (MVE, R&amp;D / revenue, debt / equity, FCF / net income, revenue)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Age: days since the firm's first filed 10-K (post-IPO age)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When: fiscal years 2010–2024; 1 to 15 years per firm (median 3)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Industry: biotech as provided; the file has no industry code, so membership is taken as given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Cleaning steps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154680"/>
            <a:ext cx="5394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Revenue floor: only firm-years with revenue ≥ $100M (applied upstream) so ratios are not distorted by tiny denominators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data: none in the columns used; no imputation, and this analysis dropped no rows. Upstream filters on the full source table: Appendix A1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Outliers: none removed and no winsorizing; 1% / 99% and 5% / 95% tests left the results unchanged (Appendix A2). Log axes handle the skew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Units: MVE converted from $ millions to $; age from days to years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Age, not calendar time, is where MVE grows</a:t>
            </a:r>
            <a:endParaRPr lang="en-US" sz="3000" dirty="0"/>
          </a:p>
        </p:txBody>
      </p:sp>
      <p:pic>
        <p:nvPicPr>
          <p:cNvPr id="3" name="Line charts" descr="Line graphs of MVE, R&amp;D/revenue and debt/equity by fiscal year with yearly medi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40680" cy="4271608"/>
          </a:xfrm>
          <a:prstGeom prst="rect">
            <a:avLst/>
          </a:prstGeom>
        </p:spPr>
      </p:pic>
      <p:pic>
        <p:nvPicPr>
          <p:cNvPr id="4" name="Dot plot" descr="Dot plot of MVE against years since first 10-K with LOESS tr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25880"/>
            <a:ext cx="5440680" cy="42716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6692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Line graphs: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yearly medians are stable, so MVE, R&amp;D intensity and leverage show no strong time trend.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199632" y="56692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Dot plot: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MVE is flat for ~12 years of filing history, then rises about 5× by year 25, with huge spread around the trend.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firms are worth ~4× more, but age explains only ~11%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Size of the correlation</a:t>
            </a:r>
            <a:endParaRPr lang="en-US" sz="1600" dirty="0"/>
          </a:p>
        </p:txBody>
      </p:sp>
      <p:sp>
        <p:nvSpPr>
          <p:cNvPr id="4" name="Evidence stat 1"/>
          <p:cNvSpPr/>
          <p:nvPr/>
        </p:nvSpPr>
        <p:spPr>
          <a:xfrm>
            <a:off x="548640" y="1691640"/>
            <a:ext cx="25146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vidence stat 1 value"/>
          <p:cNvSpPr txBox="1"/>
          <p:nvPr/>
        </p:nvSpPr>
        <p:spPr>
          <a:xfrm>
            <a:off x="731520" y="1801368"/>
            <a:ext cx="2148840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</a:t>
            </a:r>
            <a:endParaRPr lang="en-US" sz="3800" dirty="0"/>
          </a:p>
        </p:txBody>
      </p:sp>
      <p:sp>
        <p:nvSpPr>
          <p:cNvPr id="6" name="Evidence stat 1 label"/>
          <p:cNvSpPr txBox="1"/>
          <p:nvPr/>
        </p:nvSpPr>
        <p:spPr>
          <a:xfrm>
            <a:off x="731520" y="2610063"/>
            <a:ext cx="2148840" cy="50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Spearman ρ (rank correlation)</a:t>
            </a:r>
            <a:endParaRPr lang="en-US" sz="1300" dirty="0"/>
          </a:p>
        </p:txBody>
      </p:sp>
      <p:sp>
        <p:nvSpPr>
          <p:cNvPr id="7" name="Evidence stat 2"/>
          <p:cNvSpPr/>
          <p:nvPr/>
        </p:nvSpPr>
        <p:spPr>
          <a:xfrm>
            <a:off x="3246120" y="1691640"/>
            <a:ext cx="25146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vidence stat 2 value"/>
          <p:cNvSpPr txBox="1"/>
          <p:nvPr/>
        </p:nvSpPr>
        <p:spPr>
          <a:xfrm>
            <a:off x="3429000" y="1801368"/>
            <a:ext cx="2148840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</a:t>
            </a:r>
            <a:endParaRPr lang="en-US" sz="3800" dirty="0"/>
          </a:p>
        </p:txBody>
      </p:sp>
      <p:sp>
        <p:nvSpPr>
          <p:cNvPr id="9" name="Evidence stat 2 label"/>
          <p:cNvSpPr txBox="1"/>
          <p:nvPr/>
        </p:nvSpPr>
        <p:spPr>
          <a:xfrm>
            <a:off x="3429000" y="2610063"/>
            <a:ext cx="2148840" cy="50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Pearson r, log MVE vs age</a:t>
            </a:r>
            <a:endParaRPr lang="en-US" sz="1300" dirty="0"/>
          </a:p>
        </p:txBody>
      </p:sp>
      <p:sp>
        <p:nvSpPr>
          <p:cNvPr id="10" name="Evidence stat 3"/>
          <p:cNvSpPr/>
          <p:nvPr/>
        </p:nvSpPr>
        <p:spPr>
          <a:xfrm>
            <a:off x="548640" y="3310128"/>
            <a:ext cx="25146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vidence stat 3 value"/>
          <p:cNvSpPr txBox="1"/>
          <p:nvPr/>
        </p:nvSpPr>
        <p:spPr>
          <a:xfrm>
            <a:off x="731520" y="3419856"/>
            <a:ext cx="2148840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800" dirty="0"/>
          </a:p>
        </p:txBody>
      </p:sp>
      <p:sp>
        <p:nvSpPr>
          <p:cNvPr id="12" name="Evidence stat 3 label"/>
          <p:cNvSpPr txBox="1"/>
          <p:nvPr/>
        </p:nvSpPr>
        <p:spPr>
          <a:xfrm>
            <a:off x="731520" y="4228551"/>
            <a:ext cx="2148840" cy="50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 of log-MVE variation explained (R²)</a:t>
            </a:r>
            <a:endParaRPr lang="en-US" sz="1300" dirty="0"/>
          </a:p>
        </p:txBody>
      </p:sp>
      <p:sp>
        <p:nvSpPr>
          <p:cNvPr id="13" name="Evidence stat 4"/>
          <p:cNvSpPr/>
          <p:nvPr/>
        </p:nvSpPr>
        <p:spPr>
          <a:xfrm>
            <a:off x="3246120" y="3310128"/>
            <a:ext cx="25146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vidence stat 4 value"/>
          <p:cNvSpPr txBox="1"/>
          <p:nvPr/>
        </p:nvSpPr>
        <p:spPr>
          <a:xfrm>
            <a:off x="3429000" y="3419856"/>
            <a:ext cx="2148840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×1.8</a:t>
            </a:r>
            <a:endParaRPr lang="en-US" sz="3800" dirty="0"/>
          </a:p>
        </p:txBody>
      </p:sp>
      <p:sp>
        <p:nvSpPr>
          <p:cNvPr id="15" name="Evidence stat 4 label"/>
          <p:cNvSpPr txBox="1"/>
          <p:nvPr/>
        </p:nvSpPr>
        <p:spPr>
          <a:xfrm>
            <a:off x="3429000" y="4228551"/>
            <a:ext cx="2148840" cy="50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MVE per extra decade of age (95% CI ×1.3–2.6)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325880"/>
          <a:ext cx="560527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Economic significance card"/>
          <p:cNvSpPr/>
          <p:nvPr/>
        </p:nvSpPr>
        <p:spPr>
          <a:xfrm>
            <a:off x="548640" y="498348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7492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Economic significance: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firms with 20+ years of filings have a median MVE about 4× that of younger firms ($6.5B–$13.7B vs $1.5B–$1.7B; 95% CI 1.8–8.7×, resampling firms). But the ranges overlap heavily: age shifts the typical level, yet on its own it is a weak predictor of any one firm's value.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Implications</a:t>
            </a:r>
            <a:endParaRPr lang="en-US" sz="30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icon bg 1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Column icon 1" descr="What we f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6962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found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154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Yes: MVE is positively correlated with post-IPO age (ρ = 0.29), so it rises rather than falls with 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steadily: flat (or slightly down) for ~12 years, then ~5× higher by year 25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Median MVE by calendar year does not drift up, so this looks like maturity and de-risking, not just a rising tide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 explains only ~11% of the variation: a real but modest factor</a:t>
            </a:r>
            <a:endParaRPr lang="en-US" sz="1600" dirty="0"/>
          </a:p>
        </p:txBody>
      </p:sp>
      <p:sp>
        <p:nvSpPr>
          <p:cNvPr id="8" name="Column card 2"/>
          <p:cNvSpPr/>
          <p:nvPr/>
        </p:nvSpPr>
        <p:spPr>
          <a:xfrm>
            <a:off x="4288536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umn icon bg 2"/>
          <p:cNvSpPr/>
          <p:nvPr/>
        </p:nvSpPr>
        <p:spPr>
          <a:xfrm>
            <a:off x="4517136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Column icon 2" descr="Limi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868" y="16962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57216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17136" y="2286000"/>
            <a:ext cx="3154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Survivorship: failed biotechs delist, so older firms are the winners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$100M revenue floor excludes pre-revenue biotechs; without it ρ falls to 0.11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Firms repeat across years; firm-level ρ is only 0.15–0.18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Correlation, not causation: scale and year effects are not controlled; industry label taken as given</a:t>
            </a:r>
            <a:endParaRPr lang="en-US" sz="1600" dirty="0"/>
          </a:p>
        </p:txBody>
      </p:sp>
      <p:sp>
        <p:nvSpPr>
          <p:cNvPr id="13" name="Column card 3"/>
          <p:cNvSpPr/>
          <p:nvPr/>
        </p:nvSpPr>
        <p:spPr>
          <a:xfrm>
            <a:off x="8028432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lumn icon bg 3"/>
          <p:cNvSpPr/>
          <p:nvPr/>
        </p:nvSpPr>
        <p:spPr>
          <a:xfrm>
            <a:off x="8257032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Column icon 3" descr="Further analys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169621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97112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Further analysis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57032" y="2286000"/>
            <a:ext cx="3154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Control for revenue, fiscal-year and firm effects to isolate 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pre-revenue and delisted biotechs to test selection and survivorship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the mechanism directly with pipeline stage or FDA approvals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IPO cohorts: ρ was 0.50 in 2010–16 vs 0.24 in 2017–24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A1: Source data and upstream filters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heading"/>
          <p:cNvSpPr txBox="1"/>
          <p:nvPr/>
        </p:nvSpPr>
        <p:spPr>
          <a:xfrm>
            <a:off x="73152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Original source table</a:t>
            </a:r>
            <a:endParaRPr lang="en-US" sz="1400" dirty="0"/>
          </a:p>
        </p:txBody>
      </p:sp>
      <p:sp>
        <p:nvSpPr>
          <p:cNvPr id="5" name="Step 1 value"/>
          <p:cNvSpPr txBox="1"/>
          <p:nvPr/>
        </p:nvSpPr>
        <p:spPr>
          <a:xfrm>
            <a:off x="73152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3600" dirty="0"/>
          </a:p>
        </p:txBody>
      </p:sp>
      <p:sp>
        <p:nvSpPr>
          <p:cNvPr id="6" name="Step 1 label"/>
          <p:cNvSpPr txBox="1"/>
          <p:nvPr/>
        </p:nvSpPr>
        <p:spPr>
          <a:xfrm>
            <a:off x="73152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lines of data, all available columns (CompustatData.xlsx)</a:t>
            </a:r>
            <a:endParaRPr lang="en-US" sz="1400" dirty="0"/>
          </a:p>
        </p:txBody>
      </p:sp>
      <p:sp>
        <p:nvSpPr>
          <p:cNvPr id="7" name="Step arrow 1"/>
          <p:cNvSpPr/>
          <p:nvPr/>
        </p:nvSpPr>
        <p:spPr>
          <a:xfrm>
            <a:off x="3938778" y="2103120"/>
            <a:ext cx="41148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card 2"/>
          <p:cNvSpPr/>
          <p:nvPr/>
        </p:nvSpPr>
        <p:spPr>
          <a:xfrm>
            <a:off x="4448556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ep 2 heading"/>
          <p:cNvSpPr txBox="1"/>
          <p:nvPr/>
        </p:nvSpPr>
        <p:spPr>
          <a:xfrm>
            <a:off x="4631436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Filters applied before this analysis</a:t>
            </a:r>
            <a:endParaRPr lang="en-US" sz="1400" dirty="0"/>
          </a:p>
        </p:txBody>
      </p:sp>
      <p:sp>
        <p:nvSpPr>
          <p:cNvPr id="10" name="Step 2 filters"/>
          <p:cNvSpPr txBox="1"/>
          <p:nvPr/>
        </p:nvSpPr>
        <p:spPr>
          <a:xfrm>
            <a:off x="4631436" y="1920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Removed rows with zero total debt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Removed rows with blank capex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Kept revenue ≥ $100M</a:t>
            </a:r>
            <a:endParaRPr lang="en-US" sz="1500" dirty="0"/>
          </a:p>
        </p:txBody>
      </p:sp>
      <p:sp>
        <p:nvSpPr>
          <p:cNvPr id="11" name="Step arrow 2"/>
          <p:cNvSpPr/>
          <p:nvPr/>
        </p:nvSpPr>
        <p:spPr>
          <a:xfrm>
            <a:off x="7838694" y="2103120"/>
            <a:ext cx="41148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card 3"/>
          <p:cNvSpPr/>
          <p:nvPr/>
        </p:nvSpPr>
        <p:spPr>
          <a:xfrm>
            <a:off x="8348472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 3 heading"/>
          <p:cNvSpPr txBox="1"/>
          <p:nvPr/>
        </p:nvSpPr>
        <p:spPr>
          <a:xfrm>
            <a:off x="8531352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Extract provided for this analysis</a:t>
            </a:r>
            <a:endParaRPr lang="en-US" sz="1400" dirty="0"/>
          </a:p>
        </p:txBody>
      </p:sp>
      <p:sp>
        <p:nvSpPr>
          <p:cNvPr id="14" name="Step 3 value"/>
          <p:cNvSpPr txBox="1"/>
          <p:nvPr/>
        </p:nvSpPr>
        <p:spPr>
          <a:xfrm>
            <a:off x="8531352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833</a:t>
            </a:r>
            <a:endParaRPr lang="en-US" sz="3600" dirty="0"/>
          </a:p>
        </p:txBody>
      </p:sp>
      <p:sp>
        <p:nvSpPr>
          <p:cNvPr id="15" name="Step 3 label"/>
          <p:cNvSpPr txBox="1"/>
          <p:nvPr/>
        </p:nvSpPr>
        <p:spPr>
          <a:xfrm>
            <a:off x="8531352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company-years (201 firms), simplified to the columns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11091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Zero total debt removed: debt-free firm-years are excluded, which may tilt the sample toward firms that carry debt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Blank capex removed: only firm-years that report capital expenditure remain, which may leave out some early-stage or sparse filers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These filters were applied before the file reached this analysis, so their effect on the MVE–age correlation has not been measured here; Appendix A2 isolates only the revenue floor (ρ 0.11 → 0.29)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 test them, rebuild the charts from the full table with and without each filter</a:t>
            </a:r>
            <a:endParaRPr lang="en-US" sz="1500" dirty="0"/>
          </a:p>
        </p:txBody>
      </p:sp>
      <p:sp>
        <p:nvSpPr>
          <p:cNvPr id="18" name="Repository link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Code, data extract and README: </a:t>
            </a:r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Project repository o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https://github.com/AlwaysOverachieve/Project1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 |   Full source table: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CompustatData.xlsx (in the repository)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A2: Data cleaning choices and their effects</a:t>
            </a:r>
            <a:endParaRPr lang="en-US" sz="3000" dirty="0"/>
          </a:p>
        </p:txBody>
      </p:sp>
      <p:graphicFrame>
        <p:nvGraphicFramePr>
          <p:cNvPr id="9" name="Cleaning effe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097280"/>
                <a:gridCol w="1371600"/>
                <a:gridCol w="137160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Spearman 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Pearson 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R² (log MVE)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MVE per decade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Final: no winsorizing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×1.84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MVE winsorized 1% / 99%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×1.85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MVE and age winsorized 1% / 99%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×1.85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MVE and age winsorized 5% / 95%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×1.85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Earlier data, no $100M revenue floor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3,448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0.14*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13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* Pearson r on log MVE; this earlier file (3,448 company-years, 730 firms) has no revenue column.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110916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Winsorizing pulls extreme values to the cutoff. It lifts raw Pearson r (0.29 → 0.33–0.35) because a few giant firms stop dominating, but leaves rank correlation and the fitted slope unchanged, so no hidden stronger relationship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Bias from winsorizing: it shrinks the tails toward the middle and understates true dispersion. Rank statistics and log axes handle outliers without changing values, so the final analysis uses unmodified data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$100M revenue floor is the biggest data choice: it removes small and pre-revenue firms and raises ρ from 0.11 to 0.29. Results describe commercial-stage biotechs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firms were dropped for missing data in this analysis (no missing values in the columns used); upstream filters are in Appendix A1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A3: Robustness checks</a:t>
            </a:r>
            <a:endParaRPr lang="en-US" sz="3000" dirty="0"/>
          </a:p>
        </p:txBody>
      </p:sp>
      <p:graphicFrame>
        <p:nvGraphicFramePr>
          <p:cNvPr id="10" name="Robustne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8229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Cut of the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Correlation of MVE with 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Full sample (Spearman ρ)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observation per firm (latest year)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 = 0.18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Firm medians (one point per firm)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 = 0.15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Within-firm only (firm means removed), log MVE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 = 0.15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Fiscal years 2010-2016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 = 0.50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Fiscal years 2017-2024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 = 0.24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Excluding MVE above $100B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 = 0.26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37160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Reading the table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737360"/>
            <a:ext cx="41422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Positive in every cut, but weaker once each firm counts once (ρ ≈ 0.15–0.18)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Strongest in 2010–16 (ρ = 0.50) and weaker in 2017–24 (0.24), a period when many young IPOs entered: 29 firms in 2010 vs 96 in 2024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driven by the largest firms: dropping MVE above $100B leaves ρ = 0.26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 matters more than age: revenue has ρ = 0.76 with MVE (and 0.37 with age)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A4: Summary statistics and methods</a:t>
            </a:r>
            <a:endParaRPr lang="en-US" sz="3000" dirty="0"/>
          </a:p>
        </p:txBody>
      </p:sp>
      <p:graphicFrame>
        <p:nvGraphicFramePr>
          <p:cNvPr id="11" name="Summary stat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100584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MVE ($ millions)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2,560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13,583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313,686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 (years since first 10-K)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41.8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Revenue ($ millions)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2,469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58,054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54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 = 833 company-years (201 firms). MVE is strongly right-skewed (mean about 5× the median), which is why the charts use a log axis.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37160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Method notes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737360"/>
            <a:ext cx="41422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Trend line: LOESS of log(MVE) on age, span 0.4, drawn over the 1st–99th percentile of age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95% band: 300 resamples of whole firms, refitting each time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Axes: MVE log scale; R&amp;D / revenue linear; debt / equity symmetric-log (it has negative values)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Reproduce: Python and Node scripts, data extract and README at github.com/AlwaysOverachieve/Project1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tech Teal">
  <a:themeElements>
    <a:clrScheme name="Biotech Teal">
      <a:dk1>
        <a:srgbClr val="1B2B34"/>
      </a:dk1>
      <a:lt1>
        <a:srgbClr val="FFFFFF"/>
      </a:lt1>
      <a:dk2>
        <a:srgbClr val="0F4C5C"/>
      </a:dk2>
      <a:lt2>
        <a:srgbClr val="EEF4F5"/>
      </a:lt2>
      <a:accent1>
        <a:srgbClr val="1F7A8C"/>
      </a:accent1>
      <a:accent2>
        <a:srgbClr val="E36414"/>
      </a:accent2>
      <a:accent3>
        <a:srgbClr val="8A9BA3"/>
      </a:accent3>
      <a:accent4>
        <a:srgbClr val="5FA8B8"/>
      </a:accent4>
      <a:accent5>
        <a:srgbClr val="9A031E"/>
      </a:accent5>
      <a:accent6>
        <a:srgbClr val="2F6B3C"/>
      </a:accent6>
      <a:hlink>
        <a:srgbClr val="1F7A8C"/>
      </a:hlink>
      <a:folHlink>
        <a:srgbClr val="8A9BA3"/>
      </a:folHlink>
    </a:clrScheme>
    <a:fontScheme name="Biotech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Biotech Industry - MVE vs Age</dc:title>
  <dc:subject>PptxGenJS Presentation</dc:subject>
  <dc:creator>Jacob Willson</dc:creator>
  <cp:lastModifiedBy>Jacob Willson</cp:lastModifiedBy>
  <cp:revision>1</cp:revision>
  <dcterms:created xsi:type="dcterms:W3CDTF">2026-10-07T11:09:37Z</dcterms:created>
  <dcterms:modified xsi:type="dcterms:W3CDTF">2026-10-07T11:09:37Z</dcterms:modified>
</cp:coreProperties>
</file>